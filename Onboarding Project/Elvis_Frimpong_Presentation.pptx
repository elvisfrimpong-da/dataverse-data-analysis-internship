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19631-BE0E-4C9E-ACB7-2E0F0CC8B07B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5CEEB-D925-4A68-A9D0-CA2D47497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5CEEB-D925-4A68-A9D0-CA2D474971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85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1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3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2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2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3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8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7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1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1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2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6514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6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4637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4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7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8EDFC-BCD2-46D6-B067-849F0224B5F7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1D1E8A-F4CB-45FA-94D2-2DC82B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3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linkedin.com/in/elvisfrimpong" TargetMode="External"/><Relationship Id="rId11" Type="http://schemas.openxmlformats.org/officeDocument/2006/relationships/hyperlink" Target="https://elvisweb.netlify.app/" TargetMode="External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hyperlink" Target="https://github.com/elvisfrimpong-da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DCEF4B-D9EB-4C72-DF0F-4F2C330DADFA}"/>
              </a:ext>
            </a:extLst>
          </p:cNvPr>
          <p:cNvSpPr/>
          <p:nvPr/>
        </p:nvSpPr>
        <p:spPr>
          <a:xfrm>
            <a:off x="73152" y="32004"/>
            <a:ext cx="12045696" cy="662025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A7DC9-EDC8-58F7-1E11-4E14B7297054}"/>
              </a:ext>
            </a:extLst>
          </p:cNvPr>
          <p:cNvSpPr/>
          <p:nvPr/>
        </p:nvSpPr>
        <p:spPr>
          <a:xfrm>
            <a:off x="161544" y="118872"/>
            <a:ext cx="11868912" cy="6446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EBE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F6CF6-923A-1C2C-2E04-1E254FFF6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51" y="528581"/>
            <a:ext cx="10897813" cy="59212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CFE7E2-043B-E0F2-7F34-E020AF61A8C6}"/>
              </a:ext>
            </a:extLst>
          </p:cNvPr>
          <p:cNvSpPr txBox="1"/>
          <p:nvPr/>
        </p:nvSpPr>
        <p:spPr>
          <a:xfrm>
            <a:off x="249936" y="159249"/>
            <a:ext cx="11188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Cost of Living and Financial Stress Analysis Across Urban and Rural Households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0D2A01-DB79-9331-22D9-BC219D8B8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444" l="9933" r="89899">
                        <a14:foregroundMark x1="14815" y1="40833" x2="68013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688" y="1033272"/>
            <a:ext cx="429768" cy="493776"/>
          </a:xfrm>
          <a:prstGeom prst="rect">
            <a:avLst/>
          </a:prstGeom>
        </p:spPr>
      </p:pic>
      <p:pic>
        <p:nvPicPr>
          <p:cNvPr id="15" name="Picture 14">
            <a:hlinkClick r:id="rId6"/>
            <a:extLst>
              <a:ext uri="{FF2B5EF4-FFF2-40B4-BE49-F238E27FC236}">
                <a16:creationId xmlns:a16="http://schemas.microsoft.com/office/drawing/2014/main" id="{642E5050-9F2B-2DF8-E9C8-09AD8B333F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43" y="5285232"/>
            <a:ext cx="769309" cy="1196079"/>
          </a:xfrm>
          <a:prstGeom prst="rect">
            <a:avLst/>
          </a:prstGeom>
        </p:spPr>
      </p:pic>
      <p:pic>
        <p:nvPicPr>
          <p:cNvPr id="17" name="Picture 16">
            <a:hlinkClick r:id="rId6"/>
            <a:extLst>
              <a:ext uri="{FF2B5EF4-FFF2-40B4-BE49-F238E27FC236}">
                <a16:creationId xmlns:a16="http://schemas.microsoft.com/office/drawing/2014/main" id="{6FD386FC-F9F3-A67E-CD8C-6D9DAB4C6F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42" y="4245487"/>
            <a:ext cx="769309" cy="770382"/>
          </a:xfrm>
          <a:prstGeom prst="rect">
            <a:avLst/>
          </a:prstGeom>
        </p:spPr>
      </p:pic>
      <p:pic>
        <p:nvPicPr>
          <p:cNvPr id="19" name="Picture 18">
            <a:hlinkClick r:id="rId9"/>
            <a:extLst>
              <a:ext uri="{FF2B5EF4-FFF2-40B4-BE49-F238E27FC236}">
                <a16:creationId xmlns:a16="http://schemas.microsoft.com/office/drawing/2014/main" id="{D6D38491-7569-B4FC-B488-FFCCE63EE2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30" y="3020577"/>
            <a:ext cx="705922" cy="955548"/>
          </a:xfrm>
          <a:prstGeom prst="rect">
            <a:avLst/>
          </a:prstGeom>
        </p:spPr>
      </p:pic>
      <p:pic>
        <p:nvPicPr>
          <p:cNvPr id="21" name="Picture 20">
            <a:hlinkClick r:id="rId11"/>
            <a:extLst>
              <a:ext uri="{FF2B5EF4-FFF2-40B4-BE49-F238E27FC236}">
                <a16:creationId xmlns:a16="http://schemas.microsoft.com/office/drawing/2014/main" id="{3357AAFF-DEEA-F238-0137-8F71E52586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37" y="1909260"/>
            <a:ext cx="705922" cy="95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1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BA09-63B5-7589-4528-15467165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7AD4F-902E-31A1-55A0-791B194A6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72038"/>
            <a:ext cx="10515600" cy="47526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analysis examines 5,786 households to understand financial stress patterns and the role of mobile money across urban and rural areas.</a:t>
            </a:r>
          </a:p>
          <a:p>
            <a:pPr marL="0" indent="0">
              <a:buNone/>
            </a:pPr>
            <a:r>
              <a:rPr lang="en-US" b="1" dirty="0"/>
              <a:t>Insight 1: Urban vs Rural</a:t>
            </a:r>
          </a:p>
          <a:p>
            <a:r>
              <a:rPr lang="en-US" dirty="0"/>
              <a:t>Urban households earn more on average, but essential expenditure remains high across both groups. Rural households show slightly higher financial stress</a:t>
            </a:r>
          </a:p>
          <a:p>
            <a:pPr marL="0" indent="0">
              <a:buNone/>
            </a:pPr>
            <a:r>
              <a:rPr lang="en-US" b="1" dirty="0"/>
              <a:t>Insight 2: Expense Structure</a:t>
            </a:r>
          </a:p>
          <a:p>
            <a:r>
              <a:rPr lang="en-US" dirty="0"/>
              <a:t>Food and rent together account for the majority of household expenditure, indicating that cost-of-living pressure is primarily driven by essential consumption.</a:t>
            </a:r>
          </a:p>
          <a:p>
            <a:pPr marL="0" indent="0">
              <a:buNone/>
            </a:pPr>
            <a:r>
              <a:rPr lang="en-US" b="1" dirty="0"/>
              <a:t>Insight 3: Mobile Money &amp; Savings</a:t>
            </a:r>
          </a:p>
          <a:p>
            <a:r>
              <a:rPr lang="en-US" dirty="0"/>
              <a:t>The strongest finding is a moderately strong positive correlation of 0.61 between mobile money access and savings rate. This suggests digital financial tools may significantly improve household financial resilience.”</a:t>
            </a:r>
          </a:p>
          <a:p>
            <a:r>
              <a:rPr lang="en-US" dirty="0"/>
              <a:t>This implies that improving </a:t>
            </a:r>
            <a:r>
              <a:rPr lang="en-US" b="1" dirty="0"/>
              <a:t>digital financial </a:t>
            </a:r>
            <a:r>
              <a:rPr lang="en-US" dirty="0"/>
              <a:t>inclusion could strengthen </a:t>
            </a:r>
            <a:r>
              <a:rPr lang="en-US" b="1" dirty="0"/>
              <a:t>savings behavior. </a:t>
            </a:r>
            <a:r>
              <a:rPr lang="en-US" dirty="0"/>
              <a:t>However, reducing financial stress also requires addressing high essential expenditure and debt burden.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3D7B-5005-787B-F89C-99A0AF65D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6008"/>
          </a:xfrm>
        </p:spPr>
        <p:txBody>
          <a:bodyPr/>
          <a:lstStyle/>
          <a:p>
            <a:pPr algn="ctr"/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9438-4D7B-0089-9A8D-B061DAAE9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1405"/>
            <a:ext cx="8596668" cy="2923475"/>
          </a:xfrm>
        </p:spPr>
        <p:txBody>
          <a:bodyPr/>
          <a:lstStyle/>
          <a:p>
            <a:r>
              <a:rPr lang="en-US" sz="2400" dirty="0"/>
              <a:t>Expand digital financial inclusion to improve savings behavior.</a:t>
            </a:r>
          </a:p>
          <a:p>
            <a:r>
              <a:rPr lang="en-US" sz="2400" dirty="0"/>
              <a:t>Reduce cost-of-living pressure to lower financial stress.</a:t>
            </a:r>
          </a:p>
          <a:p>
            <a:r>
              <a:rPr lang="en-US" sz="2400" dirty="0"/>
              <a:t>Strengthen debt management and financial literacy frameworks.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648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185</Words>
  <Application>Microsoft Macintosh PowerPoint</Application>
  <PresentationFormat>Widescreen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Cascadia Mono SemiBold</vt:lpstr>
      <vt:lpstr>Trebuchet MS</vt:lpstr>
      <vt:lpstr>Wingdings 3</vt:lpstr>
      <vt:lpstr>Facet</vt:lpstr>
      <vt:lpstr>PowerPoint Presentation</vt:lpstr>
      <vt:lpstr>KEY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 Frimpong</dc:creator>
  <cp:lastModifiedBy>Elvis Frimpong</cp:lastModifiedBy>
  <cp:revision>2</cp:revision>
  <dcterms:created xsi:type="dcterms:W3CDTF">2026-02-20T15:55:12Z</dcterms:created>
  <dcterms:modified xsi:type="dcterms:W3CDTF">2026-03-08T22:06:11Z</dcterms:modified>
</cp:coreProperties>
</file>